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4-3.jpg" ContentType="image/jpg"/>
  <Override PartName="/ppt/media/image-5-1.jpg" ContentType="image/jpg"/>
  <Override PartName="/ppt/media/image-5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vezetés" id="{be7a419c-6533-dfc7-069f-50b96dcd3cec}">
          <p14:sldIdLst>
            <p14:sldId id="256"/>
            <p14:sldId id="257"/>
            <p14:sldId id="258"/>
          </p14:sldIdLst>
        </p14:section>
        <p14:section name="Tematika" id="{3fc302d8-24a6-923e-6edf-53e2e8b5bead}">
          <p14:sldIdLst>
            <p14:sldId id="259"/>
            <p14:sldId id="260"/>
          </p14:sldIdLst>
        </p14:section>
        <p14:section name="Eredmények" id="{2198b3c0-8520-301e-abf1-2763e11379e4}">
          <p14:sldIdLst>
            <p14:sldId id="261"/>
            <p14:sldId id="262"/>
            <p14:sldId id="263"/>
            <p14:sldId id="264"/>
          </p14:sldIdLst>
        </p14:section>
        <p14:section name="Zárás" id="{78b9f498-d6f3-8258-9554-3d5ebe0b185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1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13E"/>
                </a:solidFill>
                <a:latin typeface="+mn-lt"/>
              </a:rPr>
              <a:t>Heti átlagpontok (max. 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Heti átlagpont</c:v>
                </c:pt>
              </c:strCache>
            </c:strRef>
          </c:tx>
          <c:spPr>
            <a:solidFill>
              <a:srgbClr val="2A7F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13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1. hét</c:v>
                </c:pt>
                <c:pt idx="1">
                  <c:v>2. hét</c:v>
                </c:pt>
                <c:pt idx="2">
                  <c:v>3. hét</c:v>
                </c:pt>
                <c:pt idx="3">
                  <c:v>4. hét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72.6</c:v>
                </c:pt>
                <c:pt idx="1">
                  <c:v>66.8</c:v>
                </c:pt>
                <c:pt idx="2">
                  <c:v>69.1</c:v>
                </c:pt>
                <c:pt idx="3">
                  <c:v>65.9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6213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.0"/>
          <c:min val="0.0"/>
        </c:scaling>
        <c:delete val="0"/>
        <c:axPos val="l"/>
        <c:majorGridlines>
          <c:spPr>
            <a:ln w="9525" cap="flat">
              <a:solidFill>
                <a:srgbClr val="D5DB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.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1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13E"/>
                </a:solidFill>
                <a:latin typeface="+mn-lt"/>
              </a:rPr>
              <a:t>Érdemjegyek eloszlása (fő)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Érdemjegyek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A03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7FB3A5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A7F86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16213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16213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2-es</c:v>
                </c:pt>
                <c:pt idx="1">
                  <c:v>3-as</c:v>
                </c:pt>
                <c:pt idx="2">
                  <c:v>4-es</c:v>
                </c:pt>
                <c:pt idx="3">
                  <c:v>5-ös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11</c:v>
                </c:pt>
                <c:pt idx="2">
                  <c:v>10</c:v>
                </c:pt>
                <c:pt idx="3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6213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Üdvözlés, a kurzus egy mondatos bemutatása: négy hét, online, előképzettség nélkül.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Három hétköznapi példa, hogy a téma ne tűnjön távolinak.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kurzus nem igényel matematikai vagy programozási előképzettséget.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egymásra épülő négy hét: a módszerek időrendben haladnak az ókortól a mai internetig.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Enigma a 2. hét fő témája.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számok a 30 fiktív hallgató adataiból számolt összesítésből származnak.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Heti átlagok: 72,6; 66,8; 69,1; 65,9 pont (Excel, Összesítés munkalap).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Eloszlás: 1-es 0 fő, 2-es 7 fő, 3-as 11 fő, 4-es 10 fő, 5-ös 2 fő.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Hetente legfeljebb 25 pont szerezhető, a négy hét összesen 100 pont.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weboldal címét a közzététel után kell beírni.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MANTIKÓR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MANTIKÓR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Relationship Id="rId6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Kriptográfia alapjai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Az ókori rejtjelektől a mai internetig. 4 hetes online kurzus</a:t>
            </a:r>
            <a:endParaRPr lang="en-US" sz="2000" dirty="0"/>
          </a:p>
        </p:txBody>
      </p:sp>
      <p:pic>
        <p:nvPicPr>
          <p:cNvPr id="4" name="Lakat ik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MANTIKÓR csapat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Miért érdemes megtanulni?</a:t>
            </a:r>
            <a:endParaRPr lang="en-US" sz="3400" dirty="0"/>
          </a:p>
        </p:txBody>
      </p:sp>
      <p:sp>
        <p:nvSpPr>
          <p:cNvPr id="3" name="Kártya 1"/>
          <p:cNvSpPr/>
          <p:nvPr/>
        </p:nvSpPr>
        <p:spPr>
          <a:xfrm>
            <a:off x="45720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Ikon kör 1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k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Jelszavak és fiókok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089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jelszavakat hash-függvények védik. Megtudod, miért nem szabad őket sima szövegként tárolni.</a:t>
            </a:r>
            <a:endParaRPr lang="en-US" sz="1400" dirty="0"/>
          </a:p>
        </p:txBody>
      </p:sp>
      <p:sp>
        <p:nvSpPr>
          <p:cNvPr id="8" name="Kártya 2"/>
          <p:cNvSpPr/>
          <p:nvPr/>
        </p:nvSpPr>
        <p:spPr>
          <a:xfrm>
            <a:off x="329184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9" name="Ikon kör 2"/>
          <p:cNvSpPr/>
          <p:nvPr/>
        </p:nvSpPr>
        <p:spPr>
          <a:xfrm>
            <a:off x="356616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k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9202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Online fizetés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1089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HTTPS és a TLS titkosítja a banki és a webshopos kapcsolatokat.</a:t>
            </a:r>
            <a:endParaRPr lang="en-US" sz="1400" dirty="0"/>
          </a:p>
        </p:txBody>
      </p:sp>
      <p:sp>
        <p:nvSpPr>
          <p:cNvPr id="13" name="Kártya 3"/>
          <p:cNvSpPr/>
          <p:nvPr/>
        </p:nvSpPr>
        <p:spPr>
          <a:xfrm>
            <a:off x="612648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4" name="Ikon kör 3"/>
          <p:cNvSpPr/>
          <p:nvPr/>
        </p:nvSpPr>
        <p:spPr>
          <a:xfrm>
            <a:off x="640080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k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9202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Üzenetek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1089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végpontok közötti titkosítás miatt csak a címzett olvashatja el az üzenetet.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Kinek szól a kurzus?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4 hét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négy témakör, hetente egy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554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2–4 óra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heti időráfordítás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554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előképzettség szükséges</a:t>
            </a:r>
            <a:endParaRPr lang="en-US" sz="1600" dirty="0"/>
          </a:p>
        </p:txBody>
      </p:sp>
      <p:sp>
        <p:nvSpPr>
          <p:cNvPr id="9" name="Célközönség doboz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Egyetemistáknak, kezdő fejlesztőknek és mindenkinek, aki szeretné érteni, hogyan védik az adatait az interneten.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Négy hét, négy lépés</a:t>
            </a:r>
            <a:endParaRPr lang="en-US" sz="3400" dirty="0"/>
          </a:p>
        </p:txBody>
      </p:sp>
      <p:sp>
        <p:nvSpPr>
          <p:cNvPr id="3" name="Idővonal"/>
          <p:cNvSpPr/>
          <p:nvPr/>
        </p:nvSpPr>
        <p:spPr>
          <a:xfrm>
            <a:off x="1371600" y="1600200"/>
            <a:ext cx="64008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4" name="Hét kör 1"/>
          <p:cNvSpPr/>
          <p:nvPr/>
        </p:nvSpPr>
        <p:spPr>
          <a:xfrm>
            <a:off x="109728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1. hét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Ókortól az I. világháborúig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Caesar, Vigenère, gyakoriságelemzés</a:t>
            </a:r>
            <a:endParaRPr lang="en-US" sz="1400" dirty="0"/>
          </a:p>
        </p:txBody>
      </p:sp>
      <p:sp>
        <p:nvSpPr>
          <p:cNvPr id="9" name="Hét kör 2"/>
          <p:cNvSpPr/>
          <p:nvPr/>
        </p:nvSpPr>
        <p:spPr>
          <a:xfrm>
            <a:off x="3227832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22783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587752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2. hét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87752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II. világháború titkai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587752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Enigma, Lorenz, Turing, kódbeszélők</a:t>
            </a:r>
            <a:endParaRPr lang="en-US" sz="1400" dirty="0"/>
          </a:p>
        </p:txBody>
      </p:sp>
      <p:sp>
        <p:nvSpPr>
          <p:cNvPr id="14" name="Hét kör 3"/>
          <p:cNvSpPr/>
          <p:nvPr/>
        </p:nvSpPr>
        <p:spPr>
          <a:xfrm>
            <a:off x="5358384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35838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718304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3. hét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18304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Modern titkosítás és hash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718304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DES, AES, SHA-256, jelszavak</a:t>
            </a:r>
            <a:endParaRPr lang="en-US" sz="1400" dirty="0"/>
          </a:p>
        </p:txBody>
      </p:sp>
      <p:sp>
        <p:nvSpPr>
          <p:cNvPr id="19" name="Hét kör 4"/>
          <p:cNvSpPr/>
          <p:nvPr/>
        </p:nvSpPr>
        <p:spPr>
          <a:xfrm>
            <a:off x="7488936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48893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848856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4. hét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48856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Napjaink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848856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RSA, HTTPS, blokklánc, kvantum</a:t>
            </a:r>
            <a:endParaRPr lang="en-US" sz="1400" dirty="0"/>
          </a:p>
        </p:txBody>
      </p:sp>
      <p:pic>
        <p:nvPicPr>
          <p:cNvPr id="24" name="Vigenère-tábla" descr="A Vigenère-tábla, 26 sor eltolt ábéc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611880"/>
            <a:ext cx="886968" cy="88696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48640" y="4526280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A Vigenère-tábla</a:t>
            </a:r>
            <a:endParaRPr lang="en-US" sz="900" dirty="0"/>
          </a:p>
        </p:txBody>
      </p:sp>
      <p:pic>
        <p:nvPicPr>
          <p:cNvPr id="26" name="Hash ábra" descr="Ábra arról, hogyan lesz a jelszavakból rövid kivon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3611880"/>
            <a:ext cx="1133856" cy="886968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4581144" y="4526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A hash: az adatból kivonat lesz</a:t>
            </a:r>
            <a:endParaRPr lang="en-US" sz="900" dirty="0"/>
          </a:p>
        </p:txBody>
      </p:sp>
      <p:pic>
        <p:nvPicPr>
          <p:cNvPr id="28" name="Bletchley Park fotó" descr="A Bletchley Park-i kastély homlokza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3611880"/>
            <a:ext cx="1645920" cy="88696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2450592" y="4526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Bletchley Park, ahol az Enigma-üzeneteket törték fel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30" name="Diffie-Hellman ábra" descr="A Diffie–Hellman kulcscsere protokoll ábrája Alice és Bob közöt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3611880"/>
            <a:ext cx="1645920" cy="923320"/>
          </a:xfrm>
          <a:prstGeom prst="rect">
            <a:avLst/>
          </a:prstGeom>
        </p:spPr>
      </p:pic>
      <p:sp>
        <p:nvSpPr>
          <p:cNvPr id="29" name="Diffie-Hellman felirat"/>
          <p:cNvSpPr txBox="1"/>
          <p:nvPr/>
        </p:nvSpPr>
        <p:spPr>
          <a:xfrm>
            <a:off x="6711696" y="4526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Diffie–Hellman kulcscsere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Mit tudsz majd a végén?</a:t>
            </a:r>
            <a:endParaRPr lang="en-US" sz="3400" dirty="0"/>
          </a:p>
        </p:txBody>
      </p:sp>
      <p:pic>
        <p:nvPicPr>
          <p:cNvPr id="3" name="Enigma-gép fotó" descr="Enigma titkosítógép nyitott fedéll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2194560" cy="2926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88920" y="1463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Enigma-gép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788920" y="1828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 2. hét témája: így titkosított a német hadsereg.</a:t>
            </a:r>
            <a:endParaRPr lang="en-US" sz="1200" dirty="0"/>
          </a:p>
        </p:txBody>
      </p:sp>
      <p:pic>
        <p:nvPicPr>
          <p:cNvPr id="6" name="Alan Turing fotó" descr="Alan Turing a kertben ül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743200"/>
            <a:ext cx="914400" cy="11795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788920" y="39502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Alan Turing, az Enigma egyik feltörője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2788920" y="4343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chemeClr val="accent6"/>
                </a:solidFill>
              </a:rPr>
              <a:t>Képek forrása: lásd az utolsó dián</a:t>
            </a:r>
            <a:endParaRPr lang="en-US" sz="800" dirty="0"/>
          </a:p>
        </p:txBody>
      </p:sp>
      <p:sp>
        <p:nvSpPr>
          <p:cNvPr id="9" name="Pipa kör 1"/>
          <p:cNvSpPr/>
          <p:nvPr/>
        </p:nvSpPr>
        <p:spPr>
          <a:xfrm>
            <a:off x="4206240" y="153619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Pipa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65506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46320" y="146304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Érted, hogyan törték fel az Enigmát és a klasszikus rejtjeleket</a:t>
            </a:r>
            <a:endParaRPr lang="en-US" sz="1500" dirty="0"/>
          </a:p>
        </p:txBody>
      </p:sp>
      <p:sp>
        <p:nvSpPr>
          <p:cNvPr id="12" name="Pipa kör 2"/>
          <p:cNvSpPr/>
          <p:nvPr/>
        </p:nvSpPr>
        <p:spPr>
          <a:xfrm>
            <a:off x="4206240" y="22860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Pip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240487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846320" y="221284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Titkosítasz és visszafejtesz adatot AES-sel és RSA-val</a:t>
            </a:r>
            <a:endParaRPr lang="en-US" sz="1500" dirty="0"/>
          </a:p>
        </p:txBody>
      </p:sp>
      <p:sp>
        <p:nvSpPr>
          <p:cNvPr id="15" name="Pipa kör 3"/>
          <p:cNvSpPr/>
          <p:nvPr/>
        </p:nvSpPr>
        <p:spPr>
          <a:xfrm>
            <a:off x="4206240" y="30358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Pipa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315468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846320" y="296265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Hash-sel ellenőrzöd egy fájl épségét</a:t>
            </a:r>
            <a:endParaRPr lang="en-US" sz="1500" dirty="0"/>
          </a:p>
        </p:txBody>
      </p:sp>
      <p:sp>
        <p:nvSpPr>
          <p:cNvPr id="18" name="Pipa kör 4"/>
          <p:cNvSpPr/>
          <p:nvPr/>
        </p:nvSpPr>
        <p:spPr>
          <a:xfrm>
            <a:off x="4206240" y="378561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Pipa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5112" y="3904488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846320" y="371246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Érted, hogyan működik a HTTPS és a digitális aláírás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Így teljesítettek a hallgatók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30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jelentkező hallgató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6459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68,6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átlagos pontszám (100-ból)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6459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3,23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átlagos érdemjegy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976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Fiktív adatok a bemutatáshoz. Forrás: jelentkezési és teljesítmény-Excel, Összesítés munkalap.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Az első héten volt a legjobb az átlag</a:t>
            </a:r>
            <a:endParaRPr lang="en-US" sz="3400" dirty="0"/>
          </a:p>
        </p:txBody>
      </p:sp>
      <p:graphicFrame>
        <p:nvGraphicFramePr>
          <p:cNvPr id="3" name="Heti átlagpontok diagram" descr=""/>
          <p:cNvGraphicFramePr/>
          <p:nvPr/>
        </p:nvGraphicFramePr>
        <p:xfrm>
          <a:off x="457200" y="137160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737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Az 1. héten volt a legmagasabb az átlag: 72,6 pont.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29260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többi héten 66 és 69 pont között alakult, a legalacsonyabb a 4. héten volt: 65,9 pont.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Senki sem kapott elégtelent</a:t>
            </a:r>
            <a:endParaRPr lang="en-US" sz="3400" dirty="0"/>
          </a:p>
        </p:txBody>
      </p:sp>
      <p:graphicFrame>
        <p:nvGraphicFramePr>
          <p:cNvPr id="3" name="Érdemjegy diagram" descr=""/>
          <p:cNvGraphicFramePr/>
          <p:nvPr/>
        </p:nvGraphicFramePr>
        <p:xfrm>
          <a:off x="457200" y="137160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12 fő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2468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kapott 4-est vagy 5-öst a 30 hallgatóból.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Az átlagos érdemjegy 3,23, a legtöbben 3-ast (11 fő) és 4-est (10 fő) kaptak.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Így épül fel egy hét</a:t>
            </a:r>
            <a:endParaRPr lang="en-US" sz="3400" dirty="0"/>
          </a:p>
        </p:txBody>
      </p:sp>
      <p:sp>
        <p:nvSpPr>
          <p:cNvPr id="3" name="Kártya 1"/>
          <p:cNvSpPr/>
          <p:nvPr/>
        </p:nvSpPr>
        <p:spPr>
          <a:xfrm>
            <a:off x="457200" y="146304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Ikon kör 1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k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Videós előadás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089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Az új téma lépésről lépésre, példákkal.</a:t>
            </a:r>
            <a:endParaRPr lang="en-US" sz="1400" dirty="0"/>
          </a:p>
        </p:txBody>
      </p:sp>
      <p:sp>
        <p:nvSpPr>
          <p:cNvPr id="8" name="Kártya 2"/>
          <p:cNvSpPr/>
          <p:nvPr/>
        </p:nvSpPr>
        <p:spPr>
          <a:xfrm>
            <a:off x="3291840" y="146304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9" name="Ikon kör 2"/>
          <p:cNvSpPr/>
          <p:nvPr/>
        </p:nvSpPr>
        <p:spPr>
          <a:xfrm>
            <a:off x="356616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k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9202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Gyakorlati feladat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1089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Titkosítás és visszafejtés saját kezűleg.</a:t>
            </a:r>
            <a:endParaRPr lang="en-US" sz="1400" dirty="0"/>
          </a:p>
        </p:txBody>
      </p:sp>
      <p:sp>
        <p:nvSpPr>
          <p:cNvPr id="13" name="Kártya 3"/>
          <p:cNvSpPr/>
          <p:nvPr/>
        </p:nvSpPr>
        <p:spPr>
          <a:xfrm>
            <a:off x="6126480" y="146304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4" name="Ikon kör 3"/>
          <p:cNvSpPr/>
          <p:nvPr/>
        </p:nvSpPr>
        <p:spPr>
          <a:xfrm>
            <a:off x="640080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k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9202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Heti kvíz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1089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Rövid önellenőrző teszt, ami a heti pontszámot adja.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Csatlakozz a következő indulóhoz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Töltsd ki a 2 perces igényfelmérőt a kurzus weboldalán, és mondd el, mit szeretnél tanulni.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4"/>
                </a:solidFill>
              </a:rPr>
              <a:t>Képek forrása: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4"/>
                </a:solidFill>
              </a:rPr>
              <a:t>Enigma-gép: Enigma Machine at NSA.jpg, Wikimedia Commons, NSA fotója (közkincs), commons.wikimedia.org/wiki/File:Enigma_Machine_at_NSA.jpg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4"/>
                </a:solidFill>
              </a:rPr>
              <a:t>Bletchley Park: Bletchley Park.jpg, Wikimedia Commons, szerző: Matt Crypto (közkincs), commons.wikimedia.org/wiki/File:Bletchley_Park.jpg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4"/>
                </a:solidFill>
              </a:rPr>
              <a:t>Alan Turing: Alan Turing az 1930-as években.jpg, Wikimedia Commons, szerző ismeretlen (közkincs), commons.wikimedia.org/wiki/File:Alan_Turing_az_1930-as_években.jpg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4"/>
                </a:solidFill>
              </a:rPr>
              <a:t>Vigenère-tábla: Vigenère square shading.svg, Wikimedia Commons, commons.wikimedia.org/wiki/File:Vigenère_square_shading.svg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4"/>
                </a:solidFill>
              </a:rPr>
              <a:t>Hash-ábra: Mi az a hash?, Kriptomagazin, kriptomagazin.hu/fogalmak/hash/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4"/>
                </a:solidFill>
              </a:rPr>
              <a:t>Diffie–Hellman-ábra: Diffie–Hellman Key Exchange Protocol, The Security Buddy, thesecuritybuddy.com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Készítette: MANTIKÓR csapat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13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Weboldal: [ide kerül a weblap címe]</a:t>
            </a:r>
            <a:endParaRPr lang="en-US" sz="1600" dirty="0"/>
          </a:p>
        </p:txBody>
      </p:sp>
      <p:pic>
        <p:nvPicPr>
          <p:cNvPr id="7" name="Lakat ik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5486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riptografia">
  <a:themeElements>
    <a:clrScheme name="Kriptografia">
      <a:dk1>
        <a:srgbClr val="16213E"/>
      </a:dk1>
      <a:lt1>
        <a:srgbClr val="FFFFFF"/>
      </a:lt1>
      <a:dk2>
        <a:srgbClr val="0F1830"/>
      </a:dk2>
      <a:lt2>
        <a:srgbClr val="EEF1F5"/>
      </a:lt2>
      <a:accent1>
        <a:srgbClr val="D9A441"/>
      </a:accent1>
      <a:accent2>
        <a:srgbClr val="2A7F86"/>
      </a:accent2>
      <a:accent3>
        <a:srgbClr val="B4443A"/>
      </a:accent3>
      <a:accent4>
        <a:srgbClr val="7FB3A5"/>
      </a:accent4>
      <a:accent5>
        <a:srgbClr val="E0A03A"/>
      </a:accent5>
      <a:accent6>
        <a:srgbClr val="4A5470"/>
      </a:accent6>
      <a:hlink>
        <a:srgbClr val="2A7F86"/>
      </a:hlink>
      <a:folHlink>
        <a:srgbClr val="4A5470"/>
      </a:folHlink>
    </a:clrScheme>
    <a:fontScheme name="Kriptografi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Kriptográfia alapjai – 4 hetes online kurzus</dc:title>
  <dc:subject>PptxGenJS Presentation</dc:subject>
  <dc:creator>PptxGenJS</dc:creator>
  <cp:lastModifiedBy>PptxGenJS</cp:lastModifiedBy>
  <cp:revision>1</cp:revision>
  <dcterms:created xsi:type="dcterms:W3CDTF">2026-10-09T12:05:46Z</dcterms:created>
  <dcterms:modified xsi:type="dcterms:W3CDTF">2026-10-09T12:05:46Z</dcterms:modified>
</cp:coreProperties>
</file>